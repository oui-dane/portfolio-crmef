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07D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07D8B"/>
                </a:solidFill>
                <a:latin typeface="Arial"/>
              </a:rPr>
              <a:t>Motivation selon l'outil (illustration)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Niveau de motivation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F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Sans TIC</c:v>
                  </c:pt>
                  <c:pt idx="1">
                    <c:v>Avec vidéo</c:v>
                  </c:pt>
                  <c:pt idx="2">
                    <c:v>Avec quiz
numérique</c:v>
                  </c:pt>
                  <c:pt idx="3">
                    <c:v>Avec jeu
pédagogique</c:v>
                  </c:pt>
                  <c:pt idx="4">
                    <c:v>Avec projet
collaboratif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62</c:v>
                </c:pt>
                <c:pt idx="2">
                  <c:v>74</c:v>
                </c:pt>
                <c:pt idx="3">
                  <c:v>81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Souhaitez la bienvenue aux stagiaires. Présentez les deux grands axes du module : (1) Résolution des conflits et (2) TIC et motivation. Précisez la durée prévue et l'organisation de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rapidement le plan. Signalez que la formation alterne théorie et pratique. Durée estimée : 3h avec pauses.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gestion de classe ne se limite pas à la discipline. C'est une approche globale. Faites participer les stagiaires : 'Qu'est-ce que gérer une classe signifie pour vous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fait que le climat de classe se construit dès le premier jour. Invitez les stagiaires à réfléchir à leurs propres expériences de classe positive ou négative.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Annoncez le début de la première partie. Les conflits sont inévitables ; l'objectif est d'apprendre à les gérer de manière constructive.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Demandez aux stagiaires de citer d'autres exemples. Soulignez que certains conflits sont normaux dans tout groupe humain ; l'enseignant apprend à les anticiper.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Invitez les stagiaires à identifier d'autres causes à partir de leur vécu. Soulignez que l'enseignant peut agir sur les causes environnementales plus facilement que sur les causes personnelles.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Attirez l'attention sur les signaux non-verbaux, souvent négligés. Un conflit non détecté tôt risque de s'envenimer. Exercice rapide : demandez aux stagiaires de mimer un signe non-verbal de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chaque stratégie brièvement. La stratégie 5 (CNV – Communication Non Violente) mérite d'être approfon die. Exemples : 'Je me sens… quand tu… parce que j'ai besoin de…'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Donnez 5 minutes aux stagiaires pour discuter en binômes, puis mettez en commun. Attendez plusieurs réponses avant de proposer la solution idéale. Valorisez toutes les propositions.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rôle de 'modèle' : les élèves observent la façon dont l'enseignant réagit. Un enseignant qui gère ses émotions montre la voie. Référence : approche de la CNV (Marshall Rosenberg).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deuxième partie. Posez la question : 'Quel outil numérique utilisez-vous déjà en classe ou en formation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 ≠ simple usage d'un ordinateur. C'est une démarche pédagogique. Reliez à la motivation : selon Malone &amp; Lepper (1987), les environnements technologiques renforcent la motivation intrinsèque.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sont illustratifs. Référence réelle : OCDE (2023) — 'Education at a Glance'. La motivation extrinsèque (récompense numérique) peut évoluer vers de la motivation intrinsèque si l'activité est bien conçue.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une démonstration live de Kahoot ou Quizizz si possible. Montrez que ces outils sont gratuits et accessibles sans installation complexe. Reliez chaque outil à un objectif pédagogique concret.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Soulignez que les TIC sont un moyen, pas une fin. La fracture numérique est une réalité dans de nombreux contextes. L'enseignant doit prévoir un plan B en cas de panne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Référence : modèle SAMR (Substitution, Augmentation, Modification, Redéfinition) de Ruben Puentedura. Il aide à évaluer le niveau d'intégration des TIC dans une activité pédagogique.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 exemple illustre le modèle 4C (Collaboration, Communication, Créativité, pensée Critique). Adaptable à tous niveaux. L'enseignant joue le rôle de coach/facilitateur pendant la phase de création.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Distribuez les groupes aléatoirement. Après 15 min, chaque groupe partage ses résultats en 2 min. Facilitez la discussion collective. Clôturez en faisant le lien entre les deux axes du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générale : les deux axes se complètent. Une classe bien gérée (sans conflits) est plus réceptive aux TIC. Et des TIC bien intégrées réduisent l'ennui source de conflits. Invitez les stagiaires à s'engager sur une action concrète.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Invitez les stagiaires à explorer ces ressources et à former leur propre bibliothèque professionnelle. Soulignez l'importance de la formation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1565C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0"/>
            <a:ext cx="2286000" cy="2286000"/>
          </a:xfrm>
          <a:prstGeom prst="ellipse">
            <a:avLst/>
          </a:prstGeom>
          <a:solidFill>
            <a:srgbClr val="00897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solidFill>
            <a:srgbClr val="00897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926080" cy="347472"/>
          </a:xfrm>
          <a:prstGeom prst="rect">
            <a:avLst>
              <a:gd name="adj" fmla="val 13158"/>
            </a:avLst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: GESTION DE CLASSE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Résolution des Conflits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TIC et Motivation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AF9"/>
                </a:solidFill>
              </a:rPr>
              <a:t>Formation des enseignants stagiaires en informatique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Année 2024–2025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Enseignement Secondaire · Informatique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E"/>
                </a:solidFill>
              </a:rPr>
              <a:t>Plan de la Formation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73152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Introduction — Gestion de Classe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Définition &amp; Climat positif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417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070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Résolution des Conflits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Types, causes, stratégies, études de cas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73152" cy="1417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52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TIC et Motivation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Outils numériques, avantages, bonnes pratiques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43200"/>
            <a:ext cx="73152" cy="14173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852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F00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Conclusion &amp; Synthèse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Références &amp; Activité interactive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286000" cy="22860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365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97B"/>
                </a:solidFill>
              </a:rPr>
              <a:t>Définition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Gestion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de Classe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68880"/>
            <a:ext cx="1280160" cy="1280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749040" y="457200"/>
            <a:ext cx="5120640" cy="12801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0" y="502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3B6E"/>
                </a:solidFill>
              </a:rPr>
              <a:t>L'ensemble des actions et stratégies mises en place par l'enseignant pour créer un environnement propice aux apprentissages.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49040" y="1965960"/>
            <a:ext cx="5120640" cy="5943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1965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📋  Organiser l'espace et le temps scolaire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49040" y="2679192"/>
            <a:ext cx="5120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267919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🤝  Instaurer des règles claires et partagées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49040" y="3392424"/>
            <a:ext cx="5120640" cy="5943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339242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💬  Gérer les comportements et les interactions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749040" y="4105656"/>
            <a:ext cx="51206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840480" y="410565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🎯  Maintenir l'engagement et la motivation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</a:rPr>
              <a:t>Pourquoi un Climat Positif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7D8B"/>
                </a:solidFill>
              </a:rPr>
              <a:t>Un environnement bienveillant favorise l'apprentissage et réduit les conflits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828800" cy="25603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Respect mutuel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Entre élèves et avec l'enseignant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1828800" cy="256032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1234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Règles claires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Co-construites dès le départ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1828800" cy="25603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1234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Équité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Traitement juste et impartial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828800" cy="256032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234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💛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Appartenance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Chaque élève se sent membre du groupe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🔑  Un climat positif réduit jusqu'à 40% des comportements perturbateurs (UNESCO, 2022)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0897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897B"/>
                </a:solidFill>
              </a:rPr>
              <a:t>PARTIE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Résolution des Conflits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AF9"/>
                </a:solidFill>
              </a:rPr>
              <a:t>Entre apprenants et avec l'enseignant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</a:rPr>
              <a:t>Types de Conflits en Classe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👥  Entre élèves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Disputes, jalousies, exclusion sociale, harcèlement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73152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🎓  Élève ↔ Enseignant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Opposition à l'autorité, contestation des notes, manque de respect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9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🧠  Conflit cognitif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Désaccord sur le contenu, incompréhension, frustration académique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86200"/>
            <a:ext cx="73152" cy="80467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59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</a:rPr>
              <a:t>🔄  Conflit de groupe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Tensions lors du travail collaboratif, problèmes de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</a:rPr>
              <a:t>Causes des Tensions en Classe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Liées aux élèves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640080" cy="64008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Frustration scolaire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(échec, incompréhension)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640080" cy="64008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Facteurs personnels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(problèmes familiaux, fatigue)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640080" cy="640080"/>
          </a:xfrm>
          <a:prstGeom prst="ellipse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657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Rivalités entre pairs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(compétition, jalousie)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Liées à l'environnement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640080" cy="640080"/>
          </a:xfrm>
          <a:prstGeom prst="ellipse">
            <a:avLst/>
          </a:prstGeom>
          <a:solidFill>
            <a:srgbClr val="E0F2F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Règles floues ou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injustement appliquées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640080" cy="640080"/>
          </a:xfrm>
          <a:prstGeom prst="ellipse">
            <a:avLst/>
          </a:prstGeom>
          <a:solidFill>
            <a:srgbClr val="E0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Différences culturelles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ou de personnalité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640080" cy="640080"/>
          </a:xfrm>
          <a:prstGeom prst="ellipse">
            <a:avLst/>
          </a:prstGeom>
          <a:solidFill>
            <a:srgbClr val="E0F2F1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3657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Mauvaise gestion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des activités en groupe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Reconnaître les Signes d'un Conflit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7D8B"/>
                </a:solidFill>
              </a:rPr>
              <a:t>Identifier tôt les signaux d'alerte permet d'intervenir avant l'escalade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6479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Verbal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Ton agressif · Insultes · Coupures de parole · Silence 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862072"/>
            <a:ext cx="640080" cy="64008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Non-verbal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Regards hostiles · Posture fermée · Pleurs · Agitation physique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5935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Comportemental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2519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Refus de travailler · Absences répétées · Isolement soudain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6E"/>
                </a:solidFill>
              </a:rPr>
              <a:t>Stratégies de Résolution des Conflits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731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</a:rPr>
              <a:t>Écoute Active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Reformuler, ne pas interrompre, valider les émotions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73152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13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</a:rPr>
              <a:t>Médiation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535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L'enseignant ou un médiateur neutre facilite le dialogue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</a:rPr>
              <a:t>Dialogue Structuré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Chacun expose son point de vue sans être interrompu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05840"/>
            <a:ext cx="73152" cy="10058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1FA2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</a:rPr>
              <a:t>Règles de Classe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7190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Rappel des engagements co-construits en début d'année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24028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240280"/>
            <a:ext cx="73152" cy="10058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313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00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269748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</a:rPr>
              <a:t>Communication Positive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2953512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Formuler en termes de besoins, éviter les jugements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Étude de Cas — Mise en Situation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5544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🎬  Situation 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Lors d'un TP d'informatique, deux élèves se disputent violemment l'accès à un ordinateur. L'un accuse l'autre d'avoir effacé son travail. La tension monte, les autres élèves s'arrêtent de travailler.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Questions de réflexion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18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Quels signes de conflit identifiez-vous dans cette situation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721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Quelle stratégie de résolution appliquez-vous en premier ? Pourquoi 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Comment éviter que cette situation se reproduise 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E"/>
                </a:solidFill>
              </a:rPr>
              <a:t>Rôle de l'Enseignant dans la Gestion des Conflits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Observateur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Anticipe les tensions avant qu'elles n'éclatent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Médiateur neutre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Ne prend pas parti ; facilite la communication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Régulateur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Rappelle les règles et fixe des limites claires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971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Modèle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Exemplifie la communication respectueuse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2971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46120" y="3611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Formateur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393192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Apprend aux élèves à gérer leurs émotions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7889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2971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🤲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3611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Soutien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3931920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Offre un espace d'écoute bienveillant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0897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897B"/>
                </a:solidFill>
              </a:rPr>
              <a:t>PARTIE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TIC et Motivation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AF9"/>
                </a:solidFill>
              </a:rPr>
              <a:t>En enseignement-apprentissage de l'informatique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TIC — Définition &amp; Importance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📖  Définition 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Les TIC (Technologies de l'Information et de la Communication) désignent l'ensemble des outils numériques utilisés pour collecter, stocker, traiter et partager l'information dans un but pédagogique.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E"/>
                </a:solidFill>
              </a:rPr>
              <a:t>Pourquoi intégrer les TIC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34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📈  Augmentent l'engagement et la participation des apprenants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834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🎯  Permettent une différenciation pédagogique efficace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402336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57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🌍  Préparent les élèves aux compétences du XXIe siècle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6576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657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⚡  Favorisent un apprentissage actif et interactif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</a:rPr>
              <a:t>Impact des TIC sur la Motivation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09728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188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</a:rPr>
              <a:t>72%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des élèves préfèrent les cours avec outils numériques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43600" y="2359152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24505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</a:rPr>
              <a:t>2×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43600" y="2980944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plus d'engagement avec des activités gamifiées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3621024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3712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</a:rPr>
              <a:t>85%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943600" y="4242816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des enseignants constatent moins d'absentéisme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</a:rPr>
              <a:t>Outils Numériques Motivants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</a:rPr>
              <a:t>Des ressources accessibles et immédiatement utilisables en classe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🎮  Kahoot!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1664208"/>
            <a:ext cx="914400" cy="22860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</a:rPr>
              <a:t>Évaluation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Quiz compétitifs en temps réel · Idéal pour réviser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Quizizz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64208"/>
            <a:ext cx="914400" cy="228600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97B"/>
                </a:solidFill>
              </a:rPr>
              <a:t>Évaluation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Quiz auto-rythmé avec rapports · Devoirs gamifiés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6517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88720"/>
            <a:ext cx="265176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 Canva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1664208"/>
            <a:ext cx="914400" cy="228600"/>
          </a:xfrm>
          <a:prstGeom prst="rect">
            <a:avLst/>
          </a:prstGeom>
          <a:solidFill>
            <a:srgbClr val="E91E63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1E63"/>
                </a:solidFill>
              </a:rPr>
              <a:t>Création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72200" y="19659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Création d'affiches, présentations · Travaux visuels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26517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17520"/>
            <a:ext cx="2651760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🐱  Scratch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65960" y="3493008"/>
            <a:ext cx="914400" cy="228600"/>
          </a:xfrm>
          <a:prstGeom prst="rect">
            <a:avLst/>
          </a:prstGeom>
          <a:solidFill>
            <a:srgbClr val="FF6F00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965960" y="3493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F00"/>
                </a:solidFill>
              </a:rPr>
              <a:t>Codage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Programmation visuelle · Initiation à l'algorithmique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26517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17520"/>
            <a:ext cx="265176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🎬  Vidéos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Interactives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93008"/>
            <a:ext cx="914400" cy="22860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493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</a:rPr>
              <a:t>Interactivité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9184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H5P, EdPuzzle · Questions intégrées dans la vidéo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3017520"/>
            <a:ext cx="26517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3017520"/>
            <a:ext cx="265176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 Padlet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26680" y="3493008"/>
            <a:ext cx="914400" cy="228600"/>
          </a:xfrm>
          <a:prstGeom prst="rect">
            <a:avLst/>
          </a:prstGeom>
          <a:solidFill>
            <a:srgbClr val="7B1FA2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3493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B1FA2"/>
                </a:solidFill>
              </a:rPr>
              <a:t>Collaboration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7220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Tableau collaboratif · Co-construction de connaissances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6E"/>
                </a:solidFill>
              </a:rPr>
              <a:t>Avantages &amp; Limites des TIC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Avantages Pédagogiques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✓  Apprentissage actif et interactif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✓  Rétroaction immédiate pour l'élève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39319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✓  Différenciation facilitée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46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✓  Accès à des ressources variées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39319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✓  Développement de l'autonomie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Risques &amp; Limites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3931920" cy="5486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25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✗  Distraction et usage hors-sujet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✗  Fracture numérique entre élèves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3931920" cy="5486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✗  Dépendance technologique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4612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246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✗  Problèmes de connexion / matériel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3931920" cy="5486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✗  Surcharge cognitive si mal dosé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Bonnes Pratiques pour Intégrer les TIC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097280"/>
            <a:ext cx="777240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1521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Définir l'objectif pédagogique d'abord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L'outil sert l'objectif, pas l'inverse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1892808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9476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Tester l'outil avant la séance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58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Éviter les surprises techniques devant les élèves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2688336"/>
            <a:ext cx="777240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7432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Impliquer les élèves dans le choix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054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Augmente la motivation et le sentiment de responsabilité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3483864"/>
            <a:ext cx="77724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35387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Alterner les modalités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8496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Combiner numérique et non-numérique pour éviter la saturation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416552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5840" y="4279392"/>
            <a:ext cx="777240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433425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Évaluer l'impact sur les apprentissages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645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Observer, ajuster, améliorer sa pratique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E"/>
                </a:solidFill>
              </a:rPr>
              <a:t>Exemple d'Activité Motivante avec les TIC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Mini-Hackathon : « Créer un Quiz avec Scratch »  —  Niveau : 4e / 3e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2024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(15 min)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Lancement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Présentation du défi avec Kahoot pour activer les connaissances préalables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63040"/>
            <a:ext cx="1920240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(30 min)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Création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Par groupes de 3, les élèves créent un quiz thématique sur Scratch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4630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63040"/>
            <a:ext cx="1920240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(10 min)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Partage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6060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Chaque groupe présente et fait jouer son quiz à la classe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463040"/>
            <a:ext cx="1920240" cy="6400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(5 min)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176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F00"/>
                </a:solidFill>
              </a:rPr>
              <a:t>Réflexion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6060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Bilan collectif : qu'avons-nous appris ? (métacognition)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Compétences visées : Collaboration · Pensée computationnelle · Communication · Créativité · Autonomie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897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À vous de jouer 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CAF9"/>
                </a:solidFill>
              </a:rPr>
              <a:t>Travail en groupes de 4 — Durée : 15 minutes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Groupe A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0391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Imaginez un conflit en classe d'informatique et proposez 3 solutions concrètes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Groupe B 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Créez une séquence de 30 min intégrant un outil TIC pour motiver des élèves démotivés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  Groupe C 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5387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Listez 5 règles de classe favorisant à la fois la paix et l'utilisation des 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15384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88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 Groupe D 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42885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Débat : les TIC créent-elles plus de conflits ou les réduisent-elles ? Argumentez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Synthèse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474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Résolution des Conflits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Anticiper vaut mieux que réagir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58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L'écoute active est fondamentale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La médiation préserve les relations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301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L'enseignant est un modèle de gestion émotionnelle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474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TIC &amp; Motivation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L'outil sert toujours un objectif pédagogique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585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La gamification renforce l'engagement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443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Alterner le numérique et le non-numérique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6301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</a:rPr>
              <a:t>Évaluer l'impact réel sur les apprentissages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Un enseignant efficace gère sa classe avec bienveillance, clarté… et créativité numérique 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B6E"/>
                </a:solidFill>
              </a:rPr>
              <a:t>Références Bibliographiques &amp; Webographiques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 Bibliographie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Rosenberg, M. (2003). La Communication Non Violente. Jouvence Éditions.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8928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Meirieu, P. (1990). L'école, mode d'emploi. ESF Éditeur.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5511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Puren, C. (1988). Histoire des méthodologies en didactique. CLE International.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32095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Tardif, J. (1998). Intégrer les nouvelles technologies. ESF Éditeur.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8679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UNESCO (2022). Rapport mondial sur l'éducation.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Webographie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kahoot.com — Plateforme de quiz interactifs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8928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quizizz.com — Quiz gamifiés et devoirs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55117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scratch.mit.edu — Programmation visuelle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32095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canva.com/education — Création visuelle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867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eduscol.education.fr — Ressources pédagogiques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45262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</a:rPr>
              <a:t>oecd.org — Rapports Education at a Glance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</a:rPr>
              <a:t>Formation des Enseignants Stagiaires en Informatique — Module : Gestion de Classe — 2024–2025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Classe - Formation des Enseignants Stagiaires</dc:title>
  <dc:subject>PptxGenJS Presentation</dc:subject>
  <dc:creator>Formation Pédagogique</dc:creator>
  <cp:lastModifiedBy>Formation Pédagogique</cp:lastModifiedBy>
  <cp:revision>1</cp:revision>
  <dcterms:created xsi:type="dcterms:W3CDTF">2026-05-22T11:50:55Z</dcterms:created>
  <dcterms:modified xsi:type="dcterms:W3CDTF">2026-05-22T11:50:55Z</dcterms:modified>
</cp:coreProperties>
</file>
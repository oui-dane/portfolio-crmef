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2" autoAdjust="0"/>
    <p:restoredTop sz="85008" autoAdjust="0"/>
  </p:normalViewPr>
  <p:slideViewPr>
    <p:cSldViewPr snapToGrid="0" snapToObjects="1">
      <p:cViewPr varScale="1">
        <p:scale>
          <a:sx n="71" d="100"/>
          <a:sy n="71" d="100"/>
        </p:scale>
        <p:origin x="43" y="5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485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26408B"/>
          </a:solidFill>
          <a:ln w="12700">
            <a:solidFill>
              <a:srgbClr val="2640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840480" cy="3840480"/>
          </a:xfrm>
          <a:prstGeom prst="ellipse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6A4C9C"/>
          </a:solidFill>
          <a:ln w="12700">
            <a:solidFill>
              <a:srgbClr val="6A4C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11480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14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FORMATION PÉDAGOGIQUE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601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14630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Les stratégies de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365760" y="2084832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A8C4F0"/>
                </a:solidFill>
              </a:rPr>
              <a:t>soutien et de remédiation</a:t>
            </a:r>
            <a:endParaRPr lang="en-US" sz="3800" dirty="0"/>
          </a:p>
        </p:txBody>
      </p:sp>
      <p:sp>
        <p:nvSpPr>
          <p:cNvPr id="12" name="Shape 9"/>
          <p:cNvSpPr/>
          <p:nvPr/>
        </p:nvSpPr>
        <p:spPr>
          <a:xfrm>
            <a:off x="365760" y="2852928"/>
            <a:ext cx="4389120" cy="411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29443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C4DE"/>
                </a:solidFill>
              </a:rPr>
              <a:t>Formation destinée aux enseignants et stagiaires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6576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</a:rPr>
              <a:t>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9BD5"/>
                </a:solidFill>
              </a:rPr>
              <a:t>02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0233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25400" dir="8100000" algn="bl" rotWithShape="0">
              <a:srgbClr val="8899C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3657600"/>
          </a:xfrm>
          <a:prstGeom prst="rect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980"/>
                </a:solidFill>
              </a:rPr>
              <a:t>Pourquoi c'est essentiel 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517904"/>
            <a:ext cx="3657600" cy="228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91056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</a:rPr>
              <a:t>Chaque apprenant progresse à son propre rythme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</a:rPr>
              <a:t>Les difficultés non traitées s'accumulent et bloquent la progression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</a:rPr>
              <a:t>Le soutien précoce évite l'échec scolaire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</a:rPr>
              <a:t>La remédiation favorise la reconstruction des apprentissages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BF0"/>
            </a:solidFill>
            <a:prstDash val="solid"/>
          </a:ln>
          <a:effectLst>
            <a:outerShdw blurRad="101600" dist="25400" dir="8100000" algn="bl" rotWithShape="0">
              <a:srgbClr val="8899C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51560"/>
            <a:ext cx="54864" cy="36576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155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2980"/>
                </a:solidFill>
              </a:rPr>
              <a:t>Objectifs de la formation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846320" y="1517904"/>
            <a:ext cx="3749040" cy="22860"/>
          </a:xfrm>
          <a:prstGeom prst="rect">
            <a:avLst/>
          </a:prstGeom>
          <a:solidFill>
            <a:srgbClr val="E8EEF8"/>
          </a:solidFill>
          <a:ln w="12700">
            <a:solidFill>
              <a:srgbClr val="E8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91056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</a:rPr>
              <a:t>Distinguer feedback, soutien et remédiation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</a:rPr>
              <a:t>Identifier les situations nécessitant chaque type d'intervention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</a:rPr>
              <a:t>Planifier et mettre en œuvre des activités adaptées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A4A"/>
                </a:solidFill>
              </a:rPr>
              <a:t>Utiliser des outils pédagogiques efficaces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3152"/>
            <a:ext cx="3108960" cy="301752"/>
          </a:xfrm>
          <a:prstGeom prst="roundRect">
            <a:avLst>
              <a:gd name="adj" fmla="val 24242"/>
            </a:avLst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AXE 1 – Concepts clés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Définitions fondamentales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DCEF"/>
                </a:solidFill>
              </a:rPr>
              <a:t>03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2743200" cy="3913632"/>
          </a:xfrm>
          <a:prstGeom prst="rect">
            <a:avLst/>
          </a:prstGeom>
          <a:solidFill>
            <a:srgbClr val="EBF3FB"/>
          </a:solidFill>
          <a:ln w="12700">
            <a:solidFill>
              <a:srgbClr val="D0D8EE"/>
            </a:solidFill>
            <a:prstDash val="solid"/>
          </a:ln>
          <a:effectLst>
            <a:outerShdw blurRad="1016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24128"/>
            <a:ext cx="2743200" cy="621792"/>
          </a:xfrm>
          <a:prstGeom prst="rect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60704"/>
            <a:ext cx="402336" cy="40233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95528" y="105156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Le Feedback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38328" y="171907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A4A"/>
                </a:solidFill>
              </a:rPr>
              <a:t>Information immédiate donnée à l'apprenant après une activité pour corriger ou confirmer sa réponse.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" y="2907792"/>
            <a:ext cx="2514600" cy="27432"/>
          </a:xfrm>
          <a:prstGeom prst="rect">
            <a:avLst/>
          </a:prstGeom>
          <a:solidFill>
            <a:srgbClr val="C8D8EE"/>
          </a:solidFill>
          <a:ln w="12700">
            <a:solidFill>
              <a:srgbClr val="C8D8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" y="298094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6BC0"/>
                </a:solidFill>
              </a:rPr>
              <a:t>Points clés 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8328" y="32461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</a:rPr>
              <a:t>Correction instantanée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</a:rPr>
              <a:t>Encouragement positif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</a:rPr>
              <a:t>Reformulation guidée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8328" y="4251960"/>
            <a:ext cx="2514600" cy="292608"/>
          </a:xfrm>
          <a:prstGeom prst="roundRect">
            <a:avLst>
              <a:gd name="adj" fmla="val 18750"/>
            </a:avLst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" y="42519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Court  •  Immédiat  •  En classe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172968" y="1024128"/>
            <a:ext cx="2743200" cy="3913632"/>
          </a:xfrm>
          <a:prstGeom prst="rect">
            <a:avLst/>
          </a:prstGeom>
          <a:solidFill>
            <a:srgbClr val="E8F8F5"/>
          </a:solidFill>
          <a:ln w="12700">
            <a:solidFill>
              <a:srgbClr val="D0D8EE"/>
            </a:solidFill>
            <a:prstDash val="solid"/>
          </a:ln>
          <a:effectLst>
            <a:outerShdw blurRad="1016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72968" y="1024128"/>
            <a:ext cx="274320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1060704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39896" y="105156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Le Soutien pédagogique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3282696" y="171907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A4A"/>
                </a:solidFill>
              </a:rPr>
              <a:t>Ensemble d'activités complémentaires visant à consolider et renforcer les apprentissages d'un ou plusieurs apprenants.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282696" y="2907792"/>
            <a:ext cx="2514600" cy="27432"/>
          </a:xfrm>
          <a:prstGeom prst="rect">
            <a:avLst/>
          </a:prstGeom>
          <a:solidFill>
            <a:srgbClr val="C8D8EE"/>
          </a:solidFill>
          <a:ln w="12700">
            <a:solidFill>
              <a:srgbClr val="C8D8E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282696" y="298094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Points clés :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282696" y="32461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</a:rPr>
              <a:t>Renforcement des acquis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</a:rPr>
              <a:t>Travail en groupes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</a:rPr>
              <a:t>Activités complémentaires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282696" y="4251960"/>
            <a:ext cx="2514600" cy="292608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282696" y="42519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Moyen terme  •  En/hors classe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117336" y="1024128"/>
            <a:ext cx="2743200" cy="3913632"/>
          </a:xfrm>
          <a:prstGeom prst="rect">
            <a:avLst/>
          </a:prstGeom>
          <a:solidFill>
            <a:srgbClr val="F0EBF8"/>
          </a:solidFill>
          <a:ln w="12700">
            <a:solidFill>
              <a:srgbClr val="D0D8EE"/>
            </a:solidFill>
            <a:prstDash val="solid"/>
          </a:ln>
          <a:effectLst>
            <a:outerShdw blurRad="1016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117336" y="1024128"/>
            <a:ext cx="2743200" cy="621792"/>
          </a:xfrm>
          <a:prstGeom prst="rect">
            <a:avLst/>
          </a:prstGeom>
          <a:solidFill>
            <a:srgbClr val="6A4C9C"/>
          </a:solidFill>
          <a:ln w="12700">
            <a:solidFill>
              <a:srgbClr val="6A4C9C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8776" y="1060704"/>
            <a:ext cx="402336" cy="40233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684264" y="1051560"/>
            <a:ext cx="20848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</a:rPr>
              <a:t>La Remédiation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6227064" y="1719072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A4A"/>
                </a:solidFill>
              </a:rPr>
              <a:t>Intervention approfondie et structurée pour corriger des difficultés persistantes et reconstruire les apprentissages.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227064" y="2907792"/>
            <a:ext cx="2514600" cy="27432"/>
          </a:xfrm>
          <a:prstGeom prst="rect">
            <a:avLst/>
          </a:prstGeom>
          <a:solidFill>
            <a:srgbClr val="C8D8EE"/>
          </a:solidFill>
          <a:ln w="12700">
            <a:solidFill>
              <a:srgbClr val="C8D8EE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227064" y="298094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4C9C"/>
                </a:solidFill>
              </a:rPr>
              <a:t>Points clés :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227064" y="324612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</a:rPr>
              <a:t>Diagnostic préalable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</a:rPr>
              <a:t>Plan individualisé</a:t>
            </a:r>
            <a:endParaRPr lang="en-US" sz="10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050" dirty="0">
                <a:solidFill>
                  <a:srgbClr val="1E2A4A"/>
                </a:solidFill>
              </a:rPr>
              <a:t>Reconstruction des savoirs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6227064" y="4251960"/>
            <a:ext cx="2514600" cy="292608"/>
          </a:xfrm>
          <a:prstGeom prst="roundRect">
            <a:avLst>
              <a:gd name="adj" fmla="val 18750"/>
            </a:avLst>
          </a:prstGeom>
          <a:solidFill>
            <a:srgbClr val="6A4C9C"/>
          </a:solidFill>
          <a:ln w="12700">
            <a:solidFill>
              <a:srgbClr val="6A4C9C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227064" y="425196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Long terme  •  Après diagnostic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3152"/>
            <a:ext cx="3108960" cy="301752"/>
          </a:xfrm>
          <a:prstGeom prst="roundRect">
            <a:avLst>
              <a:gd name="adj" fmla="val 24242"/>
            </a:avLst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AXE 1 – Tableau comparatif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Comparaison des interventions pédagogiques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9BD5"/>
                </a:solidFill>
              </a:rPr>
              <a:t>04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87552"/>
            <a:ext cx="1874520" cy="393192"/>
          </a:xfrm>
          <a:prstGeom prst="rect">
            <a:avLst/>
          </a:prstGeom>
          <a:solidFill>
            <a:srgbClr val="1A2980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987552"/>
            <a:ext cx="1728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Critères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987552"/>
            <a:ext cx="2240280" cy="393192"/>
          </a:xfrm>
          <a:prstGeom prst="rect">
            <a:avLst/>
          </a:prstGeom>
          <a:solidFill>
            <a:srgbClr val="3A6BC0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987552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FEEDBACK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987552"/>
            <a:ext cx="2240280" cy="393192"/>
          </a:xfrm>
          <a:prstGeom prst="rect">
            <a:avLst/>
          </a:prstGeom>
          <a:solidFill>
            <a:srgbClr val="0D9488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987552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SOUTIEN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987552"/>
            <a:ext cx="2240280" cy="393192"/>
          </a:xfrm>
          <a:prstGeom prst="rect">
            <a:avLst/>
          </a:prstGeom>
          <a:solidFill>
            <a:srgbClr val="6A4C9C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987552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REMÉDIATION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1380744"/>
            <a:ext cx="1874520" cy="393192"/>
          </a:xfrm>
          <a:prstGeom prst="rect">
            <a:avLst/>
          </a:prstGeom>
          <a:solidFill>
            <a:srgbClr val="EAF0FA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" y="1380744"/>
            <a:ext cx="1728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980"/>
                </a:solidFill>
              </a:rPr>
              <a:t>Durée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3120" y="1380744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76272" y="1380744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Courte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1380744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16552" y="1380744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Moyenne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380744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1380744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Longue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1773936"/>
            <a:ext cx="1874520" cy="393192"/>
          </a:xfrm>
          <a:prstGeom prst="rect">
            <a:avLst/>
          </a:prstGeom>
          <a:solidFill>
            <a:srgbClr val="EAF0FA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" y="1773936"/>
            <a:ext cx="1728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980"/>
                </a:solidFill>
              </a:rPr>
              <a:t>Niveau de difficulté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03120" y="1773936"/>
            <a:ext cx="2240280" cy="393192"/>
          </a:xfrm>
          <a:prstGeom prst="rect">
            <a:avLst/>
          </a:prstGeom>
          <a:solidFill>
            <a:srgbClr val="F7F9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76272" y="1773936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Difficultés simples / erreurs ponctuelles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43400" y="1773936"/>
            <a:ext cx="2240280" cy="393192"/>
          </a:xfrm>
          <a:prstGeom prst="rect">
            <a:avLst/>
          </a:prstGeom>
          <a:solidFill>
            <a:srgbClr val="F7F9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16552" y="1773936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Difficultés moyennes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1773936"/>
            <a:ext cx="2240280" cy="393192"/>
          </a:xfrm>
          <a:prstGeom prst="rect">
            <a:avLst/>
          </a:prstGeom>
          <a:solidFill>
            <a:srgbClr val="F7F9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1773936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Difficultés importantes et persistantes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2167128"/>
            <a:ext cx="1874520" cy="393192"/>
          </a:xfrm>
          <a:prstGeom prst="rect">
            <a:avLst/>
          </a:prstGeom>
          <a:solidFill>
            <a:srgbClr val="EAF0FA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" y="2167128"/>
            <a:ext cx="1728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980"/>
                </a:solidFill>
              </a:rPr>
              <a:t>Moment d'intervention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103120" y="2167128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76272" y="2167128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Immédiatement après l'activité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43400" y="2167128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16552" y="2167128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Tout au long de l'apprentissage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83680" y="2167128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2167128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Après diagnostic et analyse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28600" y="2560320"/>
            <a:ext cx="1874520" cy="393192"/>
          </a:xfrm>
          <a:prstGeom prst="rect">
            <a:avLst/>
          </a:prstGeom>
          <a:solidFill>
            <a:srgbClr val="EAF0FA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" y="2560320"/>
            <a:ext cx="1728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980"/>
                </a:solidFill>
              </a:rPr>
              <a:t>Public cible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03120" y="2560320"/>
            <a:ext cx="2240280" cy="393192"/>
          </a:xfrm>
          <a:prstGeom prst="rect">
            <a:avLst/>
          </a:prstGeom>
          <a:solidFill>
            <a:srgbClr val="F7F9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76272" y="2560320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Individuel (souvent)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43400" y="2560320"/>
            <a:ext cx="2240280" cy="393192"/>
          </a:xfrm>
          <a:prstGeom prst="rect">
            <a:avLst/>
          </a:prstGeom>
          <a:solidFill>
            <a:srgbClr val="F7F9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16552" y="2560320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Individuel / Groupe / Classe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83680" y="2560320"/>
            <a:ext cx="2240280" cy="393192"/>
          </a:xfrm>
          <a:prstGeom prst="rect">
            <a:avLst/>
          </a:prstGeom>
          <a:solidFill>
            <a:srgbClr val="F7F9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6832" y="2560320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Individuel / Groupe / Classe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28600" y="2953512"/>
            <a:ext cx="1874520" cy="393192"/>
          </a:xfrm>
          <a:prstGeom prst="rect">
            <a:avLst/>
          </a:prstGeom>
          <a:solidFill>
            <a:srgbClr val="EAF0FA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" y="2953512"/>
            <a:ext cx="1728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980"/>
                </a:solidFill>
              </a:rPr>
              <a:t>Objectif principal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103120" y="2953512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76272" y="2953512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Corriger rapidement, guider, encourager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343400" y="2953512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416552" y="2953512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Consolider et renforcer les apprentissages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583680" y="2953512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56832" y="2953512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Corriger en profondeur et reconstruire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28600" y="3346704"/>
            <a:ext cx="1874520" cy="393192"/>
          </a:xfrm>
          <a:prstGeom prst="rect">
            <a:avLst/>
          </a:prstGeom>
          <a:solidFill>
            <a:srgbClr val="EAF0FA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1752" y="3346704"/>
            <a:ext cx="1728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980"/>
                </a:solidFill>
              </a:rPr>
              <a:t>Type d'aide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103120" y="3346704"/>
            <a:ext cx="2240280" cy="393192"/>
          </a:xfrm>
          <a:prstGeom prst="rect">
            <a:avLst/>
          </a:prstGeom>
          <a:solidFill>
            <a:srgbClr val="F7F9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176272" y="3346704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Aide légère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343400" y="3346704"/>
            <a:ext cx="2240280" cy="393192"/>
          </a:xfrm>
          <a:prstGeom prst="rect">
            <a:avLst/>
          </a:prstGeom>
          <a:solidFill>
            <a:srgbClr val="F7F9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16552" y="3346704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Aide moyenne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583680" y="3346704"/>
            <a:ext cx="2240280" cy="393192"/>
          </a:xfrm>
          <a:prstGeom prst="rect">
            <a:avLst/>
          </a:prstGeom>
          <a:solidFill>
            <a:srgbClr val="F7F9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56832" y="3346704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Aide approfondie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28600" y="3739896"/>
            <a:ext cx="1874520" cy="393192"/>
          </a:xfrm>
          <a:prstGeom prst="rect">
            <a:avLst/>
          </a:prstGeom>
          <a:solidFill>
            <a:srgbClr val="EAF0FA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01752" y="3739896"/>
            <a:ext cx="172821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A2980"/>
                </a:solidFill>
              </a:rPr>
              <a:t>Lieu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103120" y="3739896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76272" y="3739896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En classe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343400" y="3739896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16552" y="3739896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En classe / hors classe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583680" y="3739896"/>
            <a:ext cx="2240280" cy="393192"/>
          </a:xfrm>
          <a:prstGeom prst="rect">
            <a:avLst/>
          </a:prstGeom>
          <a:solidFill>
            <a:srgbClr val="EEF4FF"/>
          </a:solidFill>
          <a:ln w="6350">
            <a:solidFill>
              <a:srgbClr val="C0CC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56832" y="3739896"/>
            <a:ext cx="20939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En classe / hors classe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28600" y="424281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980"/>
                </a:solidFill>
              </a:rPr>
              <a:t>Résumé :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176272" y="4242816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176272" y="42428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Feedback = Correction rapide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416552" y="4242816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16552" y="42428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Soutien = Renforcement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6656832" y="4242816"/>
            <a:ext cx="2103120" cy="347472"/>
          </a:xfrm>
          <a:prstGeom prst="roundRect">
            <a:avLst>
              <a:gd name="adj" fmla="val 15789"/>
            </a:avLst>
          </a:prstGeom>
          <a:solidFill>
            <a:srgbClr val="6A4C9C"/>
          </a:solidFill>
          <a:ln w="12700">
            <a:solidFill>
              <a:srgbClr val="6A4C9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56832" y="424281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Remédiation = Réparation approfondie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3152"/>
            <a:ext cx="3108960" cy="301752"/>
          </a:xfrm>
          <a:prstGeom prst="roundRect">
            <a:avLst>
              <a:gd name="adj" fmla="val 2424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AXE 2 – Approches pédagogiques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Les approches pédagogiques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C8BE"/>
                </a:solidFill>
              </a:rPr>
              <a:t>05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4160520" cy="1828800"/>
          </a:xfrm>
          <a:prstGeom prst="rect">
            <a:avLst/>
          </a:prstGeom>
          <a:solidFill>
            <a:srgbClr val="EBF5FB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24128"/>
            <a:ext cx="64008" cy="1828800"/>
          </a:xfrm>
          <a:prstGeom prst="rect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1207008"/>
            <a:ext cx="475488" cy="475488"/>
          </a:xfrm>
          <a:prstGeom prst="ellipse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99" y="1311615"/>
            <a:ext cx="266273" cy="26627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78408" y="122529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980"/>
                </a:solidFill>
              </a:rPr>
              <a:t>Pédagogie différenciée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93192" y="177393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Adapter le contenu et les méthodes selon les besoins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Respecter les rythmes d'apprentissage individuels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Varier les supports et types d'activités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1024128"/>
            <a:ext cx="4160520" cy="1828800"/>
          </a:xfrm>
          <a:prstGeom prst="rect">
            <a:avLst/>
          </a:prstGeom>
          <a:solidFill>
            <a:srgbClr val="E8F8F5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17720" y="1024128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82312" y="1207008"/>
            <a:ext cx="475488" cy="47548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919" y="1311615"/>
            <a:ext cx="266273" cy="2662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67528" y="122529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980"/>
                </a:solidFill>
              </a:rPr>
              <a:t>Approche par compétences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782312" y="177393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Évaluer les compétences visées par l'apprenant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Identifier les lacunes spécifiques à combler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Cibler les objectifs d'apprentissage prioritaires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28600" y="3035808"/>
            <a:ext cx="4160520" cy="1828800"/>
          </a:xfrm>
          <a:prstGeom prst="rect">
            <a:avLst/>
          </a:prstGeom>
          <a:solidFill>
            <a:srgbClr val="F0EBF8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28600" y="3035808"/>
            <a:ext cx="64008" cy="18288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93192" y="3218688"/>
            <a:ext cx="475488" cy="475488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99" y="3323295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78408" y="323697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980"/>
                </a:solidFill>
              </a:rPr>
              <a:t>Groupes de besoin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393192" y="378561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Regrouper les apprenants par niveau de difficulté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Travail collaboratif ciblé et structuré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Mobilité possible entre les groupes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617720" y="3035808"/>
            <a:ext cx="4160520" cy="1828800"/>
          </a:xfrm>
          <a:prstGeom prst="rect">
            <a:avLst/>
          </a:prstGeom>
          <a:solidFill>
            <a:srgbClr val="EAFAF1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17720" y="3035808"/>
            <a:ext cx="64008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782312" y="3218688"/>
            <a:ext cx="475488" cy="47548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6919" y="3323295"/>
            <a:ext cx="266273" cy="266273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67528" y="323697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980"/>
                </a:solidFill>
              </a:rPr>
              <a:t>Accompagnement individualisé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782312" y="378561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Plan d'aide personnalisé selon le profil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Suivi régulier et continu de la progression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Implication active de l'apprenant dans son parcours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3152"/>
            <a:ext cx="3108960" cy="301752"/>
          </a:xfrm>
          <a:prstGeom prst="roundRect">
            <a:avLst>
              <a:gd name="adj" fmla="val 2424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AXE 2 – En pratique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Exemples en classe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C8BE"/>
                </a:solidFill>
              </a:rPr>
              <a:t>06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66160" y="1938528"/>
            <a:ext cx="2011680" cy="1609344"/>
          </a:xfrm>
          <a:prstGeom prst="ellipse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938528"/>
            <a:ext cx="201168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Soutien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Remédiation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99198" y="1747335"/>
            <a:ext cx="1920828" cy="689875"/>
          </a:xfrm>
          <a:prstGeom prst="line">
            <a:avLst/>
          </a:prstGeom>
          <a:noFill/>
          <a:ln w="19050">
            <a:solidFill>
              <a:srgbClr val="A0B8D8"/>
            </a:solidFill>
            <a:prstDash val="sysDash"/>
          </a:ln>
        </p:spPr>
      </p:sp>
      <p:sp>
        <p:nvSpPr>
          <p:cNvPr id="11" name="Shape 9"/>
          <p:cNvSpPr/>
          <p:nvPr/>
        </p:nvSpPr>
        <p:spPr>
          <a:xfrm>
            <a:off x="274320" y="118872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1887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Exercices 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rappel ciblés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22326" y="1748401"/>
            <a:ext cx="0" cy="686889"/>
          </a:xfrm>
          <a:prstGeom prst="line">
            <a:avLst/>
          </a:prstGeom>
          <a:noFill/>
          <a:ln w="19050">
            <a:solidFill>
              <a:srgbClr val="A0B8D8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6720840" y="118872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118872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Fiches de travail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différenciées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92602" y="3858874"/>
            <a:ext cx="1939297" cy="0"/>
          </a:xfrm>
          <a:prstGeom prst="line">
            <a:avLst/>
          </a:prstGeom>
          <a:noFill/>
          <a:ln w="19050">
            <a:solidFill>
              <a:srgbClr val="A0B8D8"/>
            </a:solidFill>
            <a:prstDash val="sysDash"/>
          </a:ln>
        </p:spPr>
      </p:sp>
      <p:sp>
        <p:nvSpPr>
          <p:cNvPr id="17" name="Shape 15"/>
          <p:cNvSpPr/>
          <p:nvPr/>
        </p:nvSpPr>
        <p:spPr>
          <a:xfrm>
            <a:off x="274320" y="3657600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6576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 niveau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28998" y="3857731"/>
            <a:ext cx="0" cy="0"/>
          </a:xfrm>
          <a:prstGeom prst="line">
            <a:avLst/>
          </a:prstGeom>
          <a:noFill/>
          <a:ln w="19050">
            <a:solidFill>
              <a:srgbClr val="A0B8D8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6720840" y="3657600"/>
            <a:ext cx="2148840" cy="777240"/>
          </a:xfrm>
          <a:prstGeom prst="roundRect">
            <a:avLst>
              <a:gd name="adj" fmla="val 14118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6576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Tutorat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entre pairs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526280"/>
            <a:ext cx="8595360" cy="475488"/>
          </a:xfrm>
          <a:prstGeom prst="roundRect">
            <a:avLst>
              <a:gd name="adj" fmla="val 19231"/>
            </a:avLst>
          </a:prstGeom>
          <a:solidFill>
            <a:srgbClr val="EBF5FB"/>
          </a:solidFill>
          <a:ln w="19050">
            <a:solidFill>
              <a:srgbClr val="3A6BC0"/>
            </a:solidFill>
            <a:prstDash val="solid"/>
          </a:ln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581144"/>
            <a:ext cx="301752" cy="30175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04672" y="452628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980"/>
                </a:solidFill>
              </a:rPr>
              <a:t>Bonne pratique : Alterner les approches selon le profil de l'apprenant et le type de difficulté observée.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3152"/>
            <a:ext cx="3108960" cy="301752"/>
          </a:xfrm>
          <a:prstGeom prst="roundRect">
            <a:avLst>
              <a:gd name="adj" fmla="val 2424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AXE 3 – Mise en place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Procédures et étapes clés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DB95"/>
                </a:solidFill>
              </a:rPr>
              <a:t>07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691640" y="1572768"/>
            <a:ext cx="256032" cy="54864"/>
          </a:xfrm>
          <a:prstGeom prst="rect">
            <a:avLst/>
          </a:prstGeom>
          <a:solidFill>
            <a:srgbClr val="B0C0D8"/>
          </a:solidFill>
          <a:ln w="12700">
            <a:solidFill>
              <a:srgbClr val="B0C0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92808" y="146304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0D8"/>
                </a:solidFill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987552"/>
            <a:ext cx="804672" cy="804672"/>
          </a:xfrm>
          <a:prstGeom prst="ellipse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9875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4944" y="1901952"/>
            <a:ext cx="420624" cy="420624"/>
          </a:xfrm>
          <a:prstGeom prst="ellipse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1994489"/>
            <a:ext cx="235549" cy="23554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28600" y="2286000"/>
            <a:ext cx="1481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8600" y="2286000"/>
            <a:ext cx="1481328" cy="64008"/>
          </a:xfrm>
          <a:prstGeom prst="rect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377440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980"/>
                </a:solidFill>
              </a:rPr>
              <a:t>Diagnostic des difficultés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3108960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A"/>
                </a:solidFill>
              </a:rPr>
              <a:t>Observer, évaluer et analyser les difficultés de l'apprenant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10712" y="1572768"/>
            <a:ext cx="256032" cy="54864"/>
          </a:xfrm>
          <a:prstGeom prst="rect">
            <a:avLst/>
          </a:prstGeom>
          <a:solidFill>
            <a:srgbClr val="B0C0D8"/>
          </a:solidFill>
          <a:ln w="12700">
            <a:solidFill>
              <a:srgbClr val="B0C0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11880" y="146304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0D8"/>
                </a:solidFill>
              </a:rPr>
              <a:t>▶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267712" y="987552"/>
            <a:ext cx="804672" cy="8046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267712" y="9875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2414016" y="1901952"/>
            <a:ext cx="420624" cy="42062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6553" y="1994489"/>
            <a:ext cx="235549" cy="235549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1947672" y="2286000"/>
            <a:ext cx="1481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1947672" y="2286000"/>
            <a:ext cx="148132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039112" y="2377440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980"/>
                </a:solidFill>
              </a:rPr>
              <a:t>Identification des besoins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2039112" y="3108960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A"/>
                </a:solidFill>
              </a:rPr>
              <a:t>Cibler les lacunes spécifiques et les besoins prioritaires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5129784" y="1572768"/>
            <a:ext cx="256032" cy="54864"/>
          </a:xfrm>
          <a:prstGeom prst="rect">
            <a:avLst/>
          </a:prstGeom>
          <a:solidFill>
            <a:srgbClr val="B0C0D8"/>
          </a:solidFill>
          <a:ln w="12700">
            <a:solidFill>
              <a:srgbClr val="B0C0D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330952" y="146304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0D8"/>
                </a:solidFill>
              </a:rPr>
              <a:t>▶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986784" y="987552"/>
            <a:ext cx="804672" cy="804672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986784" y="9875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32" name="Shape 28"/>
          <p:cNvSpPr/>
          <p:nvPr/>
        </p:nvSpPr>
        <p:spPr>
          <a:xfrm>
            <a:off x="4133088" y="1901952"/>
            <a:ext cx="420624" cy="420624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5625" y="1994489"/>
            <a:ext cx="235549" cy="235549"/>
          </a:xfrm>
          <a:prstGeom prst="rect">
            <a:avLst/>
          </a:prstGeom>
        </p:spPr>
      </p:pic>
      <p:sp>
        <p:nvSpPr>
          <p:cNvPr id="34" name="Shape 29"/>
          <p:cNvSpPr/>
          <p:nvPr/>
        </p:nvSpPr>
        <p:spPr>
          <a:xfrm>
            <a:off x="3666744" y="2286000"/>
            <a:ext cx="1481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3666744" y="2286000"/>
            <a:ext cx="1481328" cy="6400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758184" y="2377440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980"/>
                </a:solidFill>
              </a:rPr>
              <a:t>Planification des activités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3758184" y="3108960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A"/>
                </a:solidFill>
              </a:rPr>
              <a:t>Concevoir un plan d'intervention adapté avec objectifs clairs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848856" y="1572768"/>
            <a:ext cx="256032" cy="54864"/>
          </a:xfrm>
          <a:prstGeom prst="rect">
            <a:avLst/>
          </a:prstGeom>
          <a:solidFill>
            <a:srgbClr val="B0C0D8"/>
          </a:solidFill>
          <a:ln w="12700">
            <a:solidFill>
              <a:srgbClr val="B0C0D8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7050024" y="146304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C0D8"/>
                </a:solidFill>
              </a:rPr>
              <a:t>▶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5705856" y="987552"/>
            <a:ext cx="804672" cy="8046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05856" y="9875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42" name="Shape 37"/>
          <p:cNvSpPr/>
          <p:nvPr/>
        </p:nvSpPr>
        <p:spPr>
          <a:xfrm>
            <a:off x="5852160" y="1901952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4697" y="1994489"/>
            <a:ext cx="235549" cy="235549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5385816" y="2286000"/>
            <a:ext cx="1481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5385816" y="2286000"/>
            <a:ext cx="1481328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5477256" y="2377440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980"/>
                </a:solidFill>
              </a:rPr>
              <a:t>Mise en œuvre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5477256" y="3108960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A"/>
                </a:solidFill>
              </a:rPr>
              <a:t>Déployer les activités de soutien ou de remédiation choisies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7424928" y="987552"/>
            <a:ext cx="804672" cy="804672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424928" y="987552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50" name="Shape 44"/>
          <p:cNvSpPr/>
          <p:nvPr/>
        </p:nvSpPr>
        <p:spPr>
          <a:xfrm>
            <a:off x="7571232" y="1901952"/>
            <a:ext cx="420624" cy="420624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3769" y="1994489"/>
            <a:ext cx="235549" cy="235549"/>
          </a:xfrm>
          <a:prstGeom prst="rect">
            <a:avLst/>
          </a:prstGeom>
        </p:spPr>
      </p:pic>
      <p:sp>
        <p:nvSpPr>
          <p:cNvPr id="52" name="Shape 45"/>
          <p:cNvSpPr/>
          <p:nvPr/>
        </p:nvSpPr>
        <p:spPr>
          <a:xfrm>
            <a:off x="7104888" y="2286000"/>
            <a:ext cx="1481328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53" name="Shape 46"/>
          <p:cNvSpPr/>
          <p:nvPr/>
        </p:nvSpPr>
        <p:spPr>
          <a:xfrm>
            <a:off x="7104888" y="2286000"/>
            <a:ext cx="1481328" cy="6400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7196328" y="2377440"/>
            <a:ext cx="129844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980"/>
                </a:solidFill>
              </a:rPr>
              <a:t>Suivi et évaluation</a:t>
            </a:r>
            <a:endParaRPr lang="en-US" sz="1050" dirty="0"/>
          </a:p>
        </p:txBody>
      </p:sp>
      <p:sp>
        <p:nvSpPr>
          <p:cNvPr id="55" name="Text 48"/>
          <p:cNvSpPr/>
          <p:nvPr/>
        </p:nvSpPr>
        <p:spPr>
          <a:xfrm>
            <a:off x="7196328" y="3108960"/>
            <a:ext cx="129844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5A6A8A"/>
                </a:solidFill>
              </a:rPr>
              <a:t>Mesurer les progrès et ajuster l'intervention si nécessaire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3152"/>
            <a:ext cx="3108960" cy="301752"/>
          </a:xfrm>
          <a:prstGeom prst="roundRect">
            <a:avLst>
              <a:gd name="adj" fmla="val 2424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AXE 3 – Exemples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Exemples d'activités de remédiation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41248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DB95"/>
                </a:solidFill>
              </a:rPr>
              <a:t>08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24128"/>
            <a:ext cx="4160520" cy="457200"/>
          </a:xfrm>
          <a:prstGeom prst="rect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8813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2376" y="1024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Lecture &amp; Compréhension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11480" y="155448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Textes courts avec questions guidées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Schémas de résumé visuel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Réorganisation de paragraphes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17720" y="102412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024128"/>
            <a:ext cx="41605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88136"/>
            <a:ext cx="310896" cy="31089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11496" y="102412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Mathématiques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800600" y="155448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Exercices progressifs par paliers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Manipulation concrète d'objets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Résolution guidée pas à pas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28600" y="303580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28600" y="3035808"/>
            <a:ext cx="4160520" cy="4572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099816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2376" y="30358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Expression orale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11480" y="356616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Jeux de rôle structurés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Reformulation en binôme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Enregistrements audio commentés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17720" y="3035808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617720" y="3035808"/>
            <a:ext cx="416052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099816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11496" y="303580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Écriture &amp; Production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800600" y="3566160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Grilles de réécriture annotées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Modèles de textes commentés</a:t>
            </a:r>
            <a:endParaRPr lang="en-US" sz="11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1E2A4A"/>
                </a:solidFill>
              </a:rPr>
              <a:t>Ateliers d'écriture guidée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3152"/>
            <a:ext cx="3108960" cy="301752"/>
          </a:xfrm>
          <a:prstGeom prst="roundRect">
            <a:avLst>
              <a:gd name="adj" fmla="val 24242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Situations d'intervention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Quand intervenir 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1248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CBA7"/>
                </a:solidFill>
              </a:rPr>
              <a:t>09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987552"/>
            <a:ext cx="2743200" cy="502920"/>
          </a:xfrm>
          <a:prstGeom prst="rect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2412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98755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FEEDBACK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28600" y="1490472"/>
            <a:ext cx="2743200" cy="3383280"/>
          </a:xfrm>
          <a:prstGeom prst="rect">
            <a:avLst/>
          </a:prstGeom>
          <a:solidFill>
            <a:srgbClr val="EBF5FB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155448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6BC0"/>
                </a:solidFill>
              </a:rPr>
              <a:t>Quand 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38328" y="179222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Après chaque activité ou exercice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" y="2295144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34086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6BC0"/>
                </a:solidFill>
              </a:rPr>
              <a:t>Signal ?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8328" y="257860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Erreur ponctuelle, réponse incorrecte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0040" y="3081528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12724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6BC0"/>
                </a:solidFill>
              </a:rPr>
              <a:t>Action ?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38328" y="336499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Corriger, encourager, reformuler immédiatement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20040" y="3867912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391363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A6BC0"/>
                </a:solidFill>
              </a:rPr>
              <a:t>Exemple :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38328" y="4151376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« Attention à l'accord du participe passé ici ! »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0040" y="4654296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36392" y="987552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024128"/>
            <a:ext cx="347472" cy="34747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639312" y="98755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SOUTIEN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3136392" y="1490472"/>
            <a:ext cx="2743200" cy="3383280"/>
          </a:xfrm>
          <a:prstGeom prst="rect">
            <a:avLst/>
          </a:prstGeom>
          <a:solidFill>
            <a:srgbClr val="E8F8F5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27832" y="155448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Quand ?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246120" y="179222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Pendant ou après la séquence d'apprentissage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3227832" y="2295144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227832" y="234086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Signal ?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3246120" y="257860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Difficultés moyennes et récurrentes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227832" y="3081528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227832" y="312724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Action ?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3246120" y="336499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Proposer des exercices supplémentaires ciblés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3227832" y="3867912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227832" y="391363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Exemple :</a:t>
            </a:r>
            <a:endParaRPr lang="en-US" sz="1000" dirty="0"/>
          </a:p>
        </p:txBody>
      </p:sp>
      <p:sp>
        <p:nvSpPr>
          <p:cNvPr id="38" name="Text 34"/>
          <p:cNvSpPr/>
          <p:nvPr/>
        </p:nvSpPr>
        <p:spPr>
          <a:xfrm>
            <a:off x="3246120" y="4151376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Groupe de travail sur la conjugaison des verbes irréguliers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3227832" y="4654296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044184" y="987552"/>
            <a:ext cx="2743200" cy="502920"/>
          </a:xfrm>
          <a:prstGeom prst="rect">
            <a:avLst/>
          </a:prstGeom>
          <a:solidFill>
            <a:srgbClr val="6A4C9C"/>
          </a:solidFill>
          <a:ln w="12700">
            <a:solidFill>
              <a:srgbClr val="6A4C9C"/>
            </a:solidFill>
            <a:prstDash val="solid"/>
          </a:ln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5624" y="1024128"/>
            <a:ext cx="347472" cy="347472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547104" y="98755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REMÉDIATION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6044184" y="1490472"/>
            <a:ext cx="2743200" cy="3383280"/>
          </a:xfrm>
          <a:prstGeom prst="rect">
            <a:avLst/>
          </a:prstGeom>
          <a:solidFill>
            <a:srgbClr val="F0EBF8"/>
          </a:solidFill>
          <a:ln w="12700">
            <a:solidFill>
              <a:srgbClr val="D0D8EE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135624" y="155448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4C9C"/>
                </a:solidFill>
              </a:rPr>
              <a:t>Quand ?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153912" y="1792224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Après un diagnostic approfondi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6135624" y="2295144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135624" y="234086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4C9C"/>
                </a:solidFill>
              </a:rPr>
              <a:t>Signal ?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6153912" y="2578608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Lacunes profondes, blocage dans les apprentissages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6135624" y="3081528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6135624" y="312724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4C9C"/>
                </a:solidFill>
              </a:rPr>
              <a:t>Action ?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6153912" y="3364992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Plan individualisé, révision des prérequis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6135624" y="3867912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135624" y="391363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4C9C"/>
                </a:solidFill>
              </a:rPr>
              <a:t>Exemple :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6153912" y="4151376"/>
            <a:ext cx="25237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A4A"/>
                </a:solidFill>
              </a:rPr>
              <a:t>Reprendre la notion de fraction avec supports concrets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6135624" y="4654296"/>
            <a:ext cx="2560320" cy="18288"/>
          </a:xfrm>
          <a:prstGeom prst="rect">
            <a:avLst/>
          </a:prstGeom>
          <a:solidFill>
            <a:srgbClr val="D0DDF0"/>
          </a:solidFill>
          <a:ln w="12700">
            <a:solidFill>
              <a:srgbClr val="D0DDF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73152"/>
            <a:ext cx="3108960" cy="301752"/>
          </a:xfrm>
          <a:prstGeom prst="roundRect">
            <a:avLst>
              <a:gd name="adj" fmla="val 24242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Outils &amp; techniques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Outils et techniques pédagogiques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41248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DCEF"/>
                </a:solidFill>
              </a:rPr>
              <a:t>10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28600" y="102412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24128"/>
            <a:ext cx="2743200" cy="54864"/>
          </a:xfrm>
          <a:prstGeom prst="rect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170432"/>
            <a:ext cx="438912" cy="438912"/>
          </a:xfrm>
          <a:prstGeom prst="ellipse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89" y="1266993"/>
            <a:ext cx="245791" cy="24579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50392" y="118872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80"/>
                </a:solidFill>
              </a:rPr>
              <a:t>Quiz &amp; Auto-évaluation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38328" y="1709928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A8A"/>
                </a:solidFill>
              </a:rPr>
              <a:t>Kahoot, Quizlet, Google Forms — évaluation formative rapide et ludique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36392" y="102412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136392" y="1024128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6120" y="1170432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2681" y="1266993"/>
            <a:ext cx="245791" cy="24579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758184" y="118872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80"/>
                </a:solidFill>
              </a:rPr>
              <a:t>Exercices interactifs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246120" y="1709928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A8A"/>
                </a:solidFill>
              </a:rPr>
              <a:t>Genially, Wordwall, LearningApps — activités numériques engageantes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044184" y="102412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44184" y="1024128"/>
            <a:ext cx="2743200" cy="54864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153912" y="1170432"/>
            <a:ext cx="438912" cy="438912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473" y="1266993"/>
            <a:ext cx="245791" cy="24579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665976" y="118872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80"/>
                </a:solidFill>
              </a:rPr>
              <a:t>Travaux pratiques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153912" y="1709928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A8A"/>
                </a:solidFill>
              </a:rPr>
              <a:t>Ateliers de manipulation, expériences guidées, projets collaboratifs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228600" y="294436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228600" y="2944368"/>
            <a:ext cx="2743200" cy="548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38328" y="3090672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889" y="3187233"/>
            <a:ext cx="245791" cy="24579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50392" y="310896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80"/>
                </a:solidFill>
              </a:rPr>
              <a:t>Outils numériques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338328" y="3630168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A8A"/>
                </a:solidFill>
              </a:rPr>
              <a:t>ENT, portfolios numériques, tableaux de bord de suivi des apprenants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136392" y="294436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136392" y="2944368"/>
            <a:ext cx="274320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246120" y="3090672"/>
            <a:ext cx="438912" cy="438912"/>
          </a:xfrm>
          <a:prstGeom prst="ellipse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2681" y="3187233"/>
            <a:ext cx="245791" cy="245791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758184" y="310896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80"/>
                </a:solidFill>
              </a:rPr>
              <a:t>Fiches de remédiation</a:t>
            </a:r>
            <a:endParaRPr lang="en-US" sz="1150" dirty="0"/>
          </a:p>
        </p:txBody>
      </p:sp>
      <p:sp>
        <p:nvSpPr>
          <p:cNvPr id="37" name="Text 30"/>
          <p:cNvSpPr/>
          <p:nvPr/>
        </p:nvSpPr>
        <p:spPr>
          <a:xfrm>
            <a:off x="3246120" y="3630168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A8A"/>
                </a:solidFill>
              </a:rPr>
              <a:t>Fiches progressives, cartes mentales, tableaux de révision structurés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044184" y="2944368"/>
            <a:ext cx="27432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044184" y="2944368"/>
            <a:ext cx="2743200" cy="54864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153912" y="3090672"/>
            <a:ext cx="438912" cy="43891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0473" y="3187233"/>
            <a:ext cx="245791" cy="245791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65976" y="3108960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980"/>
                </a:solidFill>
              </a:rPr>
              <a:t>Évaluation par pairs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6153912" y="3630168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A6A8A"/>
                </a:solidFill>
              </a:rPr>
              <a:t>Grilles d'auto-évaluation, correction croisée, retour entre apprenants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914400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9F5D0"/>
                </a:solidFill>
              </a:rPr>
              <a:t>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868680"/>
          </a:xfrm>
          <a:prstGeom prst="rect">
            <a:avLst/>
          </a:prstGeom>
          <a:solidFill>
            <a:srgbClr val="1A2980"/>
          </a:solidFill>
          <a:ln w="12700">
            <a:solidFill>
              <a:srgbClr val="1A2980"/>
            </a:solidFill>
            <a:prstDash val="solid"/>
          </a:ln>
          <a:effectLst>
            <a:outerShdw blurRad="101600" dist="25400" dir="8100000" algn="bl" rotWithShape="0">
              <a:srgbClr val="8899CC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i="1" dirty="0">
                <a:solidFill>
                  <a:srgbClr val="FFFFFF"/>
                </a:solidFill>
              </a:rPr>
              <a:t>Le soutien et la remédiation sont des piliers essentiels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i="1" dirty="0">
                <a:solidFill>
                  <a:srgbClr val="FFFFFF"/>
                </a:solidFill>
              </a:rPr>
              <a:t>de toute pédagogie inclusive et bienveillante.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274320" y="2029968"/>
            <a:ext cx="274320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029968"/>
            <a:ext cx="2743200" cy="64008"/>
          </a:xfrm>
          <a:prstGeom prst="rect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2212848"/>
            <a:ext cx="822960" cy="822960"/>
          </a:xfrm>
          <a:prstGeom prst="ellipse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491" y="2393899"/>
            <a:ext cx="460858" cy="46085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760" y="31272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980"/>
                </a:solidFill>
              </a:rPr>
              <a:t>Réduction des inégalités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84048" y="3794760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A8A"/>
                </a:solidFill>
              </a:rPr>
              <a:t>Chaque apprenant reçoit l'aide adaptée à ses besoins réels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18688" y="2029968"/>
            <a:ext cx="274320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18688" y="2029968"/>
            <a:ext cx="27432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78808" y="2212848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859" y="2393899"/>
            <a:ext cx="460858" cy="46085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10128" y="31272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980"/>
                </a:solidFill>
              </a:rPr>
              <a:t>Réussite scolaire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28416" y="3794760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A8A"/>
                </a:solidFill>
              </a:rPr>
              <a:t>Meilleure rétention des savoirs et développement des compétences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63056" y="2029968"/>
            <a:ext cx="274320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E"/>
            </a:solidFill>
            <a:prstDash val="solid"/>
          </a:ln>
          <a:effectLst>
            <a:outerShdw blurRad="76200" dist="25400" dir="8100000" algn="bl" rotWithShape="0">
              <a:srgbClr val="8899CC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63056" y="2029968"/>
            <a:ext cx="2743200" cy="64008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23176" y="2212848"/>
            <a:ext cx="822960" cy="822960"/>
          </a:xfrm>
          <a:prstGeom prst="ellipse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227" y="2393899"/>
            <a:ext cx="460858" cy="46085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54496" y="312724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980"/>
                </a:solidFill>
              </a:rPr>
              <a:t>Motivation accrue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272784" y="3794760"/>
            <a:ext cx="2523744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00" dirty="0">
                <a:solidFill>
                  <a:srgbClr val="5A6A8A"/>
                </a:solidFill>
              </a:rPr>
              <a:t>L'apprenant se sent accompagné et gagne en confiance en lui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572000" cy="4572000"/>
          </a:xfrm>
          <a:prstGeom prst="ellipse">
            <a:avLst/>
          </a:prstGeom>
          <a:solidFill>
            <a:srgbClr val="26408B"/>
          </a:solidFill>
          <a:ln w="12700">
            <a:solidFill>
              <a:srgbClr val="2640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13070"/>
          </a:solidFill>
          <a:ln w="12700">
            <a:solidFill>
              <a:srgbClr val="2130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64592" cy="45720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22960"/>
            <a:ext cx="658368" cy="658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4173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Merci pour votre attention !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365760" y="2331720"/>
            <a:ext cx="4754880" cy="45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45059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A8C4F0"/>
                </a:solidFill>
              </a:rPr>
              <a:t>Questions &amp; Discussion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65760" y="309067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CC0"/>
                </a:solidFill>
              </a:rPr>
              <a:t>Formation pédagogique  •  Soutien et Remédiation  •  2025–2026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74904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3A6BC0"/>
          </a:solidFill>
          <a:ln w="12700">
            <a:solidFill>
              <a:srgbClr val="3A6B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3749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Feedback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Correction rapide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0" y="374904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0" y="3749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Soutien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Renforcement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120640" y="374904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6A4C9C"/>
          </a:solidFill>
          <a:ln w="12700">
            <a:solidFill>
              <a:srgbClr val="6A4C9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20640" y="3749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Remédiation</a:t>
            </a:r>
            <a:endParaRPr lang="en-US" sz="12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Réparation approfondie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</Words>
  <Application>Microsoft Office PowerPoint</Application>
  <PresentationFormat>Affichage à l'écran (16:9)</PresentationFormat>
  <Paragraphs>230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stratégies de soutien et de remédiation</dc:title>
  <dc:subject>PptxGenJS Presentation</dc:subject>
  <dc:creator>PptxGenJS</dc:creator>
  <cp:lastModifiedBy>AYA</cp:lastModifiedBy>
  <cp:revision>1</cp:revision>
  <dcterms:created xsi:type="dcterms:W3CDTF">2026-05-23T18:32:16Z</dcterms:created>
  <dcterms:modified xsi:type="dcterms:W3CDTF">2026-05-23T18:34:11Z</dcterms:modified>
</cp:coreProperties>
</file>